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6" r:id="rId2"/>
    <p:sldId id="267" r:id="rId3"/>
    <p:sldId id="268" r:id="rId4"/>
    <p:sldId id="263" r:id="rId5"/>
    <p:sldId id="258" r:id="rId6"/>
    <p:sldId id="264" r:id="rId7"/>
    <p:sldId id="265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4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312D6-A167-4D02-B969-C387E5789A3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5A507-2807-4954-BF7A-D9808C91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2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5A507-2807-4954-BF7A-D9808C91F3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8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8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3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1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5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8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0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7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9D81F-E7AF-4B61-931B-D1AE874567D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6F464-E652-48F2-9B1D-E13A9FE21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0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text">
            <a:extLst>
              <a:ext uri="{FF2B5EF4-FFF2-40B4-BE49-F238E27FC236}">
                <a16:creationId xmlns:a16="http://schemas.microsoft.com/office/drawing/2014/main" id="{6416F87B-8D40-F1CD-FB27-074F4711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" r="4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0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D555E-6139-AFCA-7F63-D09E6AFAE8EC}"/>
              </a:ext>
            </a:extLst>
          </p:cNvPr>
          <p:cNvSpPr txBox="1"/>
          <p:nvPr/>
        </p:nvSpPr>
        <p:spPr>
          <a:xfrm>
            <a:off x="477078" y="551622"/>
            <a:ext cx="902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B0F0"/>
                </a:solidFill>
              </a:rPr>
              <a:t>Our thoughts behind this research</a:t>
            </a:r>
            <a:endParaRPr lang="en-US" sz="3600" dirty="0">
              <a:solidFill>
                <a:srgbClr val="00B0F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C89CF5-8841-296F-F96D-D3D4389F6467}"/>
              </a:ext>
            </a:extLst>
          </p:cNvPr>
          <p:cNvGrpSpPr/>
          <p:nvPr/>
        </p:nvGrpSpPr>
        <p:grpSpPr>
          <a:xfrm>
            <a:off x="383773" y="1604864"/>
            <a:ext cx="10900047" cy="3993629"/>
            <a:chOff x="383773" y="1604864"/>
            <a:chExt cx="10900047" cy="39936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92DF558-0796-0150-A69D-B05F391D3CE9}"/>
                </a:ext>
              </a:extLst>
            </p:cNvPr>
            <p:cNvSpPr txBox="1"/>
            <p:nvPr/>
          </p:nvSpPr>
          <p:spPr>
            <a:xfrm>
              <a:off x="4223656" y="1604864"/>
              <a:ext cx="7060164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The "Two Pandemics" Gap: Early data suggested high-income countries were hit harder, but demographic models predicted worse outcomes for developing nations. We wanted to test this discrepancy.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r>
                <a:rPr lang="en-US" dirty="0">
                  <a:solidFill>
                    <a:schemeClr val="bg1"/>
                  </a:solidFill>
                </a:rPr>
                <a:t>Data Availability Pivot: We initially sought Excess Mortality Rates, but daily data was unavailable. We pivoted to "Total Deaths" which had consistent daily country-level reporting.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r>
                <a:rPr lang="en-US" dirty="0">
                  <a:solidFill>
                    <a:schemeClr val="bg1"/>
                  </a:solidFill>
                </a:rPr>
                <a:t>Rich vs. Poor Split: We used Decision Tree Regressors (not just linear models) to capture non-linear relationships among 11 variables and wanted to explore whether wealth made any differences in total deaths.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7191C5-C8D7-245B-CC96-9E17B1D7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078" y="1716783"/>
              <a:ext cx="3581400" cy="3581400"/>
            </a:xfrm>
            <a:prstGeom prst="rect">
              <a:avLst/>
            </a:prstGeom>
            <a:noFill/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CA94E2-B33A-5267-899E-B473D5E43666}"/>
                </a:ext>
              </a:extLst>
            </p:cNvPr>
            <p:cNvSpPr txBox="1"/>
            <p:nvPr/>
          </p:nvSpPr>
          <p:spPr>
            <a:xfrm>
              <a:off x="383773" y="5352272"/>
              <a:ext cx="36747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</a:rPr>
                <a:t>https://pngtree.com/freepng/thinking-man-illustration-with-question-mark-and-light-bulb-for-business-transparent-background-vector_8803664.html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879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16196-9314-C443-CEEE-1E6D3C0A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BD514-CD10-9D77-29ED-E11337FB4965}"/>
              </a:ext>
            </a:extLst>
          </p:cNvPr>
          <p:cNvSpPr txBox="1"/>
          <p:nvPr/>
        </p:nvSpPr>
        <p:spPr>
          <a:xfrm>
            <a:off x="477078" y="551622"/>
            <a:ext cx="902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B0F0"/>
                </a:solidFill>
              </a:rPr>
              <a:t>Few References (Key Literature)</a:t>
            </a:r>
            <a:br>
              <a:rPr lang="en-US" sz="3600">
                <a:solidFill>
                  <a:srgbClr val="00B0F0"/>
                </a:solidFill>
              </a:rPr>
            </a:br>
            <a:endParaRPr lang="en-US" sz="3600" dirty="0">
              <a:solidFill>
                <a:srgbClr val="00B0F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2CF48C-E906-C003-C402-410AA1E8A37F}"/>
              </a:ext>
            </a:extLst>
          </p:cNvPr>
          <p:cNvGrpSpPr/>
          <p:nvPr/>
        </p:nvGrpSpPr>
        <p:grpSpPr>
          <a:xfrm>
            <a:off x="190871" y="1409829"/>
            <a:ext cx="11099170" cy="4840565"/>
            <a:chOff x="190871" y="1409829"/>
            <a:chExt cx="11099170" cy="48405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FB3AA1-B006-54F3-B3DC-EB63A6BB7453}"/>
                </a:ext>
              </a:extLst>
            </p:cNvPr>
            <p:cNvSpPr txBox="1"/>
            <p:nvPr/>
          </p:nvSpPr>
          <p:spPr>
            <a:xfrm>
              <a:off x="5832855" y="1409829"/>
              <a:ext cx="5457186" cy="4840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Karlinsky &amp; Kobak (2021): Developed the World Mortality Dataset; showed true death tolls were often 100x higher in some developing nations than reported.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r>
                <a:rPr lang="en-US" dirty="0">
                  <a:solidFill>
                    <a:schemeClr val="bg1"/>
                  </a:solidFill>
                </a:rPr>
                <a:t>Pablos-Méndez et al. (2022): Found higher GDP was positively associated with mortality (b = 0.512), mostly due to older populations in rich countries.</a:t>
              </a:r>
            </a:p>
            <a:p>
              <a:pPr algn="just"/>
              <a:r>
                <a:rPr lang="en-US" dirty="0">
                  <a:solidFill>
                    <a:schemeClr val="bg1"/>
                  </a:solidFill>
                </a:rPr>
                <a:t>Hale et al. (2021): Showed government policy (Stringency Index) was effective, with a 10-point increase reducing daily deaths by 6%.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algn="just"/>
              <a:r>
                <a:rPr lang="en-US" dirty="0" err="1">
                  <a:solidFill>
                    <a:schemeClr val="bg1"/>
                  </a:solidFill>
                </a:rPr>
                <a:t>Msemburi</a:t>
              </a:r>
              <a:r>
                <a:rPr lang="en-US" dirty="0">
                  <a:solidFill>
                    <a:schemeClr val="bg1"/>
                  </a:solidFill>
                </a:rPr>
                <a:t> et al. (2023): WHO estimates showing 14.83 million excess deaths, nearly 3x official counts.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4" name="Picture 3" descr="References in Research - Types, Examples and Writing Guide">
              <a:extLst>
                <a:ext uri="{FF2B5EF4-FFF2-40B4-BE49-F238E27FC236}">
                  <a16:creationId xmlns:a16="http://schemas.microsoft.com/office/drawing/2014/main" id="{1A8D554D-001D-F483-34D3-093E6B49E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17" y="1537446"/>
              <a:ext cx="5567338" cy="31278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0FA982-8DB2-91DC-55F6-04ECA75F8145}"/>
                </a:ext>
              </a:extLst>
            </p:cNvPr>
            <p:cNvSpPr txBox="1"/>
            <p:nvPr/>
          </p:nvSpPr>
          <p:spPr>
            <a:xfrm>
              <a:off x="190871" y="4721290"/>
              <a:ext cx="53390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</a:rPr>
                <a:t>https://researchmethod.net/references-in-research/</a:t>
              </a:r>
            </a:p>
            <a:p>
              <a:endParaRPr lang="en-US" sz="5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637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showing the total deaths by rich and poor&#10;&#10;AI-generated content may be incorrect.">
            <a:extLst>
              <a:ext uri="{FF2B5EF4-FFF2-40B4-BE49-F238E27FC236}">
                <a16:creationId xmlns:a16="http://schemas.microsoft.com/office/drawing/2014/main" id="{87B10C80-0239-5006-7EED-3BF2A73D3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42" y="2297652"/>
            <a:ext cx="6438238" cy="42265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CF9E36-48A8-DE44-4FB3-96CB72DA7772}"/>
              </a:ext>
            </a:extLst>
          </p:cNvPr>
          <p:cNvSpPr txBox="1"/>
          <p:nvPr/>
        </p:nvSpPr>
        <p:spPr>
          <a:xfrm>
            <a:off x="562187" y="730659"/>
            <a:ext cx="3686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00B0F0"/>
                </a:solidFill>
              </a:rPr>
              <a:t>Research Question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CC443-1972-BC0F-9AFE-9829CBB47A10}"/>
              </a:ext>
            </a:extLst>
          </p:cNvPr>
          <p:cNvSpPr txBox="1"/>
          <p:nvPr/>
        </p:nvSpPr>
        <p:spPr>
          <a:xfrm>
            <a:off x="562187" y="1526326"/>
            <a:ext cx="7596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What variables drive total death across </a:t>
            </a:r>
            <a:r>
              <a:rPr lang="en-US">
                <a:solidFill>
                  <a:srgbClr val="FFFF00"/>
                </a:solidFill>
              </a:rPr>
              <a:t>Rich vs Poor countries </a:t>
            </a:r>
            <a:r>
              <a:rPr lang="en-US">
                <a:solidFill>
                  <a:schemeClr val="bg1"/>
                </a:solidFill>
              </a:rPr>
              <a:t>during Covid-19?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2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BD1B2B-9A94-76D9-206A-1E8D98C7E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1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C65202B-009C-C50C-2FBC-90240FEB4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953" y="1097066"/>
            <a:ext cx="7855528" cy="4663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C11FE7-C38D-9E52-207F-2D4973859C50}"/>
              </a:ext>
            </a:extLst>
          </p:cNvPr>
          <p:cNvSpPr txBox="1"/>
          <p:nvPr/>
        </p:nvSpPr>
        <p:spPr>
          <a:xfrm>
            <a:off x="455507" y="371387"/>
            <a:ext cx="4694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B0F0"/>
                </a:solidFill>
              </a:rPr>
              <a:t>Model Performance Matrix</a:t>
            </a:r>
            <a:endParaRPr lang="en-US" sz="32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F59CE8-82DB-AA17-0B67-A979BEFB99E4}"/>
                  </a:ext>
                </a:extLst>
              </p:cNvPr>
              <p:cNvSpPr txBox="1"/>
              <p:nvPr/>
            </p:nvSpPr>
            <p:spPr>
              <a:xfrm>
                <a:off x="5674284" y="5901410"/>
                <a:ext cx="5342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0.980 | </a:t>
                </a:r>
                <a:r>
                  <a:rPr lang="en-US" dirty="0">
                    <a:solidFill>
                      <a:schemeClr val="accent4"/>
                    </a:solidFill>
                  </a:rPr>
                  <a:t>Exceptional Predictive Accuracy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F59CE8-82DB-AA17-0B67-A979BEFB9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284" y="5901410"/>
                <a:ext cx="5342466" cy="369332"/>
              </a:xfrm>
              <a:prstGeom prst="rect">
                <a:avLst/>
              </a:prstGeom>
              <a:blipFill>
                <a:blip r:embed="rId3"/>
                <a:stretch>
                  <a:fillRect l="-102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0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2269D-2016-A82A-FBD7-B587ABAA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5BB65C-6FD3-E811-C49B-5CF7C20C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9F95DC-A819-EE78-94CD-8AD5A5F58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E57D5-4DAE-A317-A369-934EE9342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B46F7-6E19-6436-D0E1-8B78BD248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26B1D-3927-F257-45B7-5D535FDD7B41}"/>
              </a:ext>
            </a:extLst>
          </p:cNvPr>
          <p:cNvSpPr txBox="1"/>
          <p:nvPr/>
        </p:nvSpPr>
        <p:spPr>
          <a:xfrm>
            <a:off x="455507" y="371387"/>
            <a:ext cx="4724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B0F0"/>
                </a:solidFill>
              </a:rPr>
              <a:t>Key Findings Across Groups</a:t>
            </a:r>
            <a:endParaRPr lang="en-US" sz="3200" dirty="0">
              <a:solidFill>
                <a:srgbClr val="00B0F0"/>
              </a:solidFill>
            </a:endParaRPr>
          </a:p>
        </p:txBody>
      </p:sp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D3646D2D-77EC-6B6C-C19A-C7FF43AD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39" y="1159239"/>
            <a:ext cx="9533442" cy="2105456"/>
          </a:xfrm>
          <a:prstGeom prst="rect">
            <a:avLst/>
          </a:prstGeom>
        </p:spPr>
      </p:pic>
      <p:pic>
        <p:nvPicPr>
          <p:cNvPr id="9" name="Picture 8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9E68EE14-4453-C7B5-962A-561D60E3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39" y="3428786"/>
            <a:ext cx="9487722" cy="21754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B612C1-CFD6-684A-8907-14B7E6049A21}"/>
              </a:ext>
            </a:extLst>
          </p:cNvPr>
          <p:cNvSpPr txBox="1"/>
          <p:nvPr/>
        </p:nvSpPr>
        <p:spPr>
          <a:xfrm>
            <a:off x="413539" y="5768313"/>
            <a:ext cx="9487722" cy="584775"/>
          </a:xfrm>
          <a:prstGeom prst="rect">
            <a:avLst/>
          </a:prstGeo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Extremely high R² values indicates potential overfitting. Probable fix: running k-fold cross-validation, testing on out-of-sample or out-of-time datasets, and evaluating the stability of feature contribution.</a:t>
            </a:r>
          </a:p>
        </p:txBody>
      </p:sp>
    </p:spTree>
    <p:extLst>
      <p:ext uri="{BB962C8B-B14F-4D97-AF65-F5344CB8AC3E}">
        <p14:creationId xmlns:p14="http://schemas.microsoft.com/office/powerpoint/2010/main" val="22866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7F29C-40A0-2933-BFAD-8AD54BEB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3A9B36-2DA6-BD67-4550-D015B94E4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D92E0-BCAF-D8A6-E14D-1E1DE3678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55436-FE97-0A0E-2105-C2A5AC236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4DB857-7057-CE15-A1E3-33AEFFFB6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99566-1F57-028A-4740-04BC09DAFBA9}"/>
              </a:ext>
            </a:extLst>
          </p:cNvPr>
          <p:cNvSpPr txBox="1"/>
          <p:nvPr/>
        </p:nvSpPr>
        <p:spPr>
          <a:xfrm>
            <a:off x="455507" y="371387"/>
            <a:ext cx="56804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Feature Importance Comparison</a:t>
            </a: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6DF05C6-0818-B663-55A5-022CBAACE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07" y="1408705"/>
            <a:ext cx="5121084" cy="3414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4D10F-D4E6-E4C2-5F27-A7B3D741CA94}"/>
              </a:ext>
            </a:extLst>
          </p:cNvPr>
          <p:cNvSpPr txBox="1"/>
          <p:nvPr/>
        </p:nvSpPr>
        <p:spPr>
          <a:xfrm>
            <a:off x="455507" y="5156907"/>
            <a:ext cx="2708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Critical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E3DC1-C4BE-009C-E6C2-09A16AD51AD7}"/>
              </a:ext>
            </a:extLst>
          </p:cNvPr>
          <p:cNvSpPr txBox="1"/>
          <p:nvPr/>
        </p:nvSpPr>
        <p:spPr>
          <a:xfrm>
            <a:off x="455507" y="5927295"/>
            <a:ext cx="3709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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Structural factors outweigh income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45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BDB12D9-3C53-9F56-19AC-F49D5D3C3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" y="0"/>
            <a:ext cx="12168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4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308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Cambria Math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Heiber</dc:creator>
  <cp:lastModifiedBy>Sohel Mahmud</cp:lastModifiedBy>
  <cp:revision>27</cp:revision>
  <dcterms:created xsi:type="dcterms:W3CDTF">2025-12-09T19:00:03Z</dcterms:created>
  <dcterms:modified xsi:type="dcterms:W3CDTF">2025-12-09T22:30:20Z</dcterms:modified>
</cp:coreProperties>
</file>